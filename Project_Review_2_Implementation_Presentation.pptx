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96" y="320040"/>
            <a:ext cx="4636008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0D47"/>
                </a:solidFill>
                <a:latin typeface="Times New Roman"/>
              </a:defRPr>
            </a:pPr>
            <a:r>
              <a:t>Department of Computer Science and Engineering</a:t>
            </a:r>
          </a:p>
          <a:p>
            <a:pPr algn="ctr">
              <a:defRPr sz="1400" b="1">
                <a:solidFill>
                  <a:srgbClr val="0070C0"/>
                </a:solidFill>
                <a:latin typeface="Times New Roman"/>
              </a:defRPr>
            </a:pPr>
            <a:r>
              <a:t>Major Project Review 2 — Implementation &amp; Results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20408"/>
                </a:solidFill>
                <a:latin typeface="Times New Roman"/>
              </a:defRPr>
            </a:pPr>
            <a:r>
              <a:t>KNOWLEDGE GRAPH-BASED QUESTION ANSWERING SYSTEM FOR</a:t>
            </a:r>
          </a:p>
          <a:p>
            <a:pPr algn="ctr">
              <a:defRPr sz="1500" b="1">
                <a:solidFill>
                  <a:srgbClr val="420408"/>
                </a:solidFill>
                <a:latin typeface="Times New Roman"/>
              </a:defRPr>
            </a:pPr>
            <a:r>
              <a:t>EFFICIENT CAMPUS INFORMATION RETRIEVAL &amp; STUDENT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217"/>
                </a:solidFill>
                <a:latin typeface="Times New Roman"/>
              </a:defRPr>
            </a:pPr>
            <a:r>
              <a:t>Under the Supervision of:</a:t>
            </a:r>
          </a:p>
          <a:p>
            <a:pPr algn="ctr">
              <a:defRPr sz="1300" b="1">
                <a:solidFill>
                  <a:srgbClr val="003217"/>
                </a:solidFill>
                <a:latin typeface="Times New Roman"/>
              </a:defRPr>
            </a:pPr>
            <a:r>
              <a:t>Mrs. Syeda Neha Shireen, Assistant Professor of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5852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1414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defRPr sz="1100" b="1">
                <a:solidFill>
                  <a:srgbClr val="141414"/>
                </a:solidFill>
                <a:latin typeface="Times New Roman"/>
              </a:defRPr>
            </a:pPr>
            <a:r>
              <a:t>R. Jaya Vinuthna Kumar       (23N81A05A9)</a:t>
            </a:r>
          </a:p>
          <a:p>
            <a:pPr algn="ctr">
              <a:defRPr sz="1100" b="1">
                <a:solidFill>
                  <a:srgbClr val="141414"/>
                </a:solidFill>
                <a:latin typeface="Times New Roman"/>
              </a:defRPr>
            </a:pPr>
            <a:r>
              <a:t>C. Rithvik                   (23N81A05B2)</a:t>
            </a:r>
          </a:p>
          <a:p>
            <a:pPr algn="ctr">
              <a:defRPr sz="1100" b="1">
                <a:solidFill>
                  <a:srgbClr val="141414"/>
                </a:solidFill>
                <a:latin typeface="Times New Roman"/>
              </a:defRPr>
            </a:pPr>
            <a:r>
              <a:t>K. Roshini Sree              (23N81A05B8)</a:t>
            </a:r>
          </a:p>
          <a:p>
            <a:pPr algn="ctr">
              <a:defRPr sz="1100" b="1">
                <a:solidFill>
                  <a:srgbClr val="141414"/>
                </a:solidFill>
                <a:latin typeface="Times New Roman"/>
              </a:defRPr>
            </a:pPr>
            <a:r>
              <a:t>M. Swapna                    (23N81A05E1)</a:t>
            </a:r>
          </a:p>
          <a:p>
            <a:pPr algn="ctr">
              <a:defRPr sz="1100" b="1">
                <a:solidFill>
                  <a:srgbClr val="141414"/>
                </a:solidFill>
                <a:latin typeface="Times New Roman"/>
              </a:defRPr>
            </a:pPr>
            <a:r>
              <a:t>J. Abhirama Rao              (23N81A05F8)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REVIEW-1 COMMITMENTS VS. REVIEW-2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2 of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2926080"/>
                <a:gridCol w="1371600"/>
              </a:tblGrid>
              <a:tr h="95097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Review 1 Target Scope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Review 2 Implementation Outcome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Knowledge Graph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 academic &amp; physical entities without heuristic guessing.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Constructed formal Typed DiGraph (536 nodes, 1008 edges across 22 entity types).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NLP Pipeline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Intent classification &amp; typo tolerance on campus terms.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Implemented TF-IDF, Cosine Similarity, and Gestalt Levenshtein fuzzy entity resolution.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Student Hub App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Concept of unified communication hub to replace WhatsApp.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Built Student Hub (`/student`) with study notes repository, circulars feed &amp; PWA mobile app.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 Dynamic Sync &amp; Test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Admin live graph updates without system restart.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In-memory dynamic rebuilding (3.84ms hot swap) &amp; 70 automated tests (62 KG + 8 API).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SYSTEM ARCHITECTURE &amp; KNOWLEDGE GRAPH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3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Ontological Knowledge Graph Representation: </a:t>
            </a:r>
            <a:r>
              <a:rPr sz="1100">
                <a:solidFill>
                  <a:srgbClr val="141414"/>
                </a:solidFill>
              </a:rPr>
              <a:t>Typed directed multigraph G = (V, E, τ_v, τ_e) modeled in NetworkX. Enforces strict schema rules across 22 entity types and 19 directional relationships.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Deterministic Topological Population: </a:t>
            </a:r>
            <a:r>
              <a:rPr sz="1100">
                <a:solidFill>
                  <a:srgbClr val="141414"/>
                </a:solidFill>
              </a:rPr>
              <a:t>Pipeline maps 8 academic departments, 116 curriculum subjects, faculty profiles, and physical infrastructure (11 buildings, 37 rooms, and labs) without random links.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Multi-Hop Deterministic Reasoning: </a:t>
            </a:r>
            <a:r>
              <a:rPr sz="1100">
                <a:solidFill>
                  <a:srgbClr val="141414"/>
                </a:solidFill>
              </a:rPr>
              <a:t>Multi-relational path exploration: Department → HOD → Faculty → Subject → Lab → Building. Guarantees 0% hallucination with sub-150ms retrieval latency.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In-Memory Graph State: </a:t>
            </a:r>
            <a:r>
              <a:rPr sz="1100">
                <a:solidFill>
                  <a:srgbClr val="141414"/>
                </a:solidFill>
              </a:rPr>
              <a:t>Topological graph resides in RAM with O(1) adjacency lookup, achieving 0.053 ms mean query traversal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UNIFIED STUDENT HUB &amp; STUDY MATERIALS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4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Unified Academic Portal (`/student`): </a:t>
            </a:r>
            <a:r>
              <a:rPr sz="1100">
                <a:solidFill>
                  <a:srgbClr val="141414"/>
                </a:solidFill>
              </a:rPr>
              <a:t>Consolidates lecture notes, unit syllabus PPTs, previous question papers, and official circulars into a single responsive web interface.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Direct Chatbot Integration: </a:t>
            </a:r>
            <a:r>
              <a:rPr sz="1100">
                <a:solidFill>
                  <a:srgbClr val="141414"/>
                </a:solidFill>
              </a:rPr>
              <a:t>Students can ask the bot naturally: 'Give me Operating Systems notes' or 'Show latest exam notices' and get direct download links instantly.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Filter &amp; Search Controls: </a:t>
            </a:r>
            <a:r>
              <a:rPr sz="1100">
                <a:solidFill>
                  <a:srgbClr val="141414"/>
                </a:solidFill>
              </a:rPr>
              <a:t>Dynamic real-time filtering by Department (CSE, AIML, DS, CS, ECE, Civil, Mech, MBA), Semester (Sem 1 to 8), and keyword text search.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Faculty Upload Subsystem (`/api/upload-material`): </a:t>
            </a:r>
            <a:r>
              <a:rPr sz="1100">
                <a:solidFill>
                  <a:srgbClr val="141414"/>
                </a:solidFill>
              </a:rPr>
              <a:t>Authorized faculty upload lecture notes and assign them directly to subject codes with cryptographic UUID file storage.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Progressive Web App (PWA) Mobile Enablement: </a:t>
            </a:r>
            <a:r>
              <a:rPr sz="1100">
                <a:solidFill>
                  <a:srgbClr val="141414"/>
                </a:solidFill>
              </a:rPr>
              <a:t>Manifest (`manifest.json`) and Service Worker (`sw.js`) enable native home-screen installation on Android/iOS phones with offline caching.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MULTI-TURN DIALOGUE &amp; CONTEXT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5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Session-Backed Dialogue State: </a:t>
            </a:r>
            <a:r>
              <a:rPr sz="1100">
                <a:solidFill>
                  <a:srgbClr val="141414"/>
                </a:solidFill>
              </a:rPr>
              <a:t>Maintains active conversational state across turns in Flask session (`session['chat_context']`), storing last department, course, and intent.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Short-Query Intent Disambiguation: </a:t>
            </a:r>
            <a:r>
              <a:rPr sz="1100">
                <a:solidFill>
                  <a:srgbClr val="141414"/>
                </a:solidFill>
              </a:rPr>
              <a:t>Queries with length ≤ 4 tokens (e.g. 'who is the HOD?' or 'what is the fee structure?') inherit previously referenced entity context.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Real-World Test Verification: </a:t>
            </a:r>
            <a:r>
              <a:rPr sz="1100">
                <a:solidFill>
                  <a:srgbClr val="141414"/>
                </a:solidFill>
              </a:rPr>
              <a:t>Turn 1: 'Tell me about CSE department' (sets dept=cse). Turn 2: 'Who is the HOD?' -&gt; Automatically routes to HOD of CSE (Prof. Kiran B. M.) without re-prompting.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Typo &amp; Alias Tolerance: </a:t>
            </a:r>
            <a:r>
              <a:rPr sz="1100">
                <a:solidFill>
                  <a:srgbClr val="141414"/>
                </a:solidFill>
              </a:rPr>
              <a:t>Resolves student abbreviations ('aiml' -&gt; 'cse_aiml', 'hod cabin' -&gt; HOD office location) via fuzzy Gestalt string 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NLP INTENT CLASSIFICATION &amp; ENTITY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6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D0D47"/>
                </a:solidFill>
              </a:rPr>
              <a:t>■  TF-IDF Vector Space Normalization: </a:t>
            </a:r>
            <a:r>
              <a:rPr sz="1100">
                <a:solidFill>
                  <a:srgbClr val="141414"/>
                </a:solidFill>
              </a:rPr>
              <a:t>Converts user queries and training exemplars across 18 intent classes into L2-normalized vector space representations.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0D47"/>
                </a:solidFill>
              </a:rPr>
              <a:t>■  Cosine Similarity Classifier (τ = 0.25): </a:t>
            </a:r>
            <a:r>
              <a:rPr sz="1100">
                <a:solidFill>
                  <a:srgbClr val="141414"/>
                </a:solidFill>
              </a:rPr>
              <a:t>Calculates dot products between query vectors and intent centroids to classify user goals accurately in &lt;0.25 ms.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0D47"/>
                </a:solidFill>
              </a:rPr>
              <a:t>■  Priority-Ordered Rule Engine: </a:t>
            </a:r>
            <a:r>
              <a:rPr sz="1100">
                <a:solidFill>
                  <a:srgbClr val="141414"/>
                </a:solidFill>
              </a:rPr>
              <a:t>Fast deterministic dispatching catches priority domain tokens ('placement', 'admission', 'fee', 'notes', 'circular') before vector classification.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0D47"/>
                </a:solidFill>
              </a:rPr>
              <a:t>■  Levenshtein / Gestalt Fuzzy Matching: </a:t>
            </a:r>
            <a:r>
              <a:rPr sz="1100">
                <a:solidFill>
                  <a:srgbClr val="141414"/>
                </a:solidFill>
              </a:rPr>
              <a:t>Employs Ratcliff/Obershelp substring matching (cutoff 0.80) to correct misspelled department names and faculty titles.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0D47"/>
                </a:solidFill>
              </a:rPr>
              <a:t>■  Regular Expression Entity Extractors: </a:t>
            </a:r>
            <a:r>
              <a:rPr sz="1100">
                <a:solidFill>
                  <a:srgbClr val="141414"/>
                </a:solidFill>
              </a:rPr>
              <a:t>Grammar-based pattern matchers isolate courses (B.Tech/M.Tech/MBA), semesters (1-8), building blocks (A-D), and faculty honorifics.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DYNAMIC IN-MEMORY GRAPH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7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The Static Graph Limitation in Literature: </a:t>
            </a:r>
            <a:r>
              <a:rPr sz="1100">
                <a:solidFill>
                  <a:srgbClr val="141414"/>
                </a:solidFill>
              </a:rPr>
              <a:t>Prior academic KGQA systems required full server shutdowns or offline batch re-indexing when campus data was modified.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Hot-Reload Architecture: </a:t>
            </a:r>
            <a:r>
              <a:rPr sz="1100">
                <a:solidFill>
                  <a:srgbClr val="141414"/>
                </a:solidFill>
              </a:rPr>
              <a:t>When an administrator updates a fee structure, adds a notice, or assigns a faculty member via `/admin`, the route invokes `kg_builder.build_graph()` in active RAM.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Atomic Reference Swap: </a:t>
            </a:r>
            <a:r>
              <a:rPr sz="1100">
                <a:solidFill>
                  <a:srgbClr val="141414"/>
                </a:solidFill>
              </a:rPr>
              <a:t>The Flask application context swaps the DiGraph pointer atomically. Ongoing reader requests continue uninterrupted.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Empirical Performance (3.84 ms): </a:t>
            </a:r>
            <a:r>
              <a:rPr sz="1100">
                <a:solidFill>
                  <a:srgbClr val="141414"/>
                </a:solidFill>
              </a:rPr>
              <a:t>Benchmarking confirms complete graph reconstruction takes only 3.84 ms, delivering true zero-downtime campus data synchronization.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AUTOMATED VERIFICATION &amp; TEST SUITE (70 TESTS)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8 of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3108960"/>
                <a:gridCol w="1280160"/>
              </a:tblGrid>
              <a:tr h="95097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Module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Count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Verification Scope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Graph Topology (`test_er_kg.py`)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 assertions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Entity types, directional relations, infrastructure containment, faculty mapping.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29/29 Passed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Curriculum &amp; Schema (`test_er_kg.py`)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assertions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116 subjects, semester hierarchies, Mermaid ER export, zero pseudo-random links.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21/21 Passed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NLP &amp; Queries (`test_er_kg.py`)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assertions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Building queries, faculty profiles, subjects by sem, fees, placements, greetings.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12/12 Passed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API &amp; Integration (`test_api_integration.py`)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 test cases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HTTP portal views, PWA assets, `/api/materials`, `/api/notices`, multi-turn context.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8/8 Passed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EMPIRICAL PERFORMANCE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9 of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8046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173736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Benchmark Value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Industry / Standard Target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4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Mean End-to-End Latency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5.64 ms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150 ms target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Exceeds by 26x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95th Percentile (P95) Latency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7.06 ms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200 ms target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Exceeds by 28x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Multi-Hop Graph Traversal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0.053 ms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10 ms target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Sub-millisecond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NLP Intent Classification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0.230 ms (4414 QPS)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5 ms target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Sub-millisecond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In-Memory Sync Rebuild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3.84 ms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50 ms target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Instantaneous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SYSTEM INTERFACE &amp; OPERATIONAL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10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Unified Campus Portal (`/`): </a:t>
            </a:r>
            <a:r>
              <a:rPr sz="1100">
                <a:solidFill>
                  <a:srgbClr val="141414"/>
                </a:solidFill>
              </a:rPr>
              <a:t>Modern responsive web portal showcasing college departments, placement statistics, facilities, leadership, and embedded assistant.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Student Study Hub (`/student`): </a:t>
            </a:r>
            <a:r>
              <a:rPr sz="1100">
                <a:solidFill>
                  <a:srgbClr val="141414"/>
                </a:solidFill>
              </a:rPr>
              <a:t>Clean card-based interface with department &amp; semester filtering for study notes, circular notices stream, and quick-action bot chips.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Conversational Mobile Assistant: </a:t>
            </a:r>
            <a:r>
              <a:rPr sz="1100">
                <a:solidFill>
                  <a:srgbClr val="141414"/>
                </a:solidFill>
              </a:rPr>
              <a:t>Floating widget on every page with 100dvh dynamic mobile height, 16px input font (preventing iOS auto-zoom), and quick query suggestions.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Faculty &amp; Admin Upload Modal: </a:t>
            </a:r>
            <a:r>
              <a:rPr sz="1100">
                <a:solidFill>
                  <a:srgbClr val="141414"/>
                </a:solidFill>
              </a:rPr>
              <a:t>Pop-up form for authenticated staff to upload PDFs/PPTs and publish circulars with instant live database &amp; graph sync.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70C0"/>
                </a:solidFill>
              </a:rPr>
              <a:t>■  Administrative Management Console (`/admin`): </a:t>
            </a:r>
            <a:r>
              <a:rPr sz="1100">
                <a:solidFill>
                  <a:srgbClr val="141414"/>
                </a:solidFill>
              </a:rPr>
              <a:t>CRUD dashboard for managing notices, fee structures, user approvals, and triggering in-memory graph rebuilds.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RESEARCH GAPS ADDRESSED &amp;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11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Gap 1: Static Graph Assumption in Prior KGQA: </a:t>
            </a:r>
            <a:r>
              <a:rPr sz="1100">
                <a:solidFill>
                  <a:srgbClr val="141414"/>
                </a:solidFill>
              </a:rPr>
              <a:t>Addressed by implementing in-memory dynamic graph synchronization (3.84 ms rebuild) linked directly to web CRUD actions.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Gap 2: Fragility on Student Slang &amp; Abbreviations: </a:t>
            </a:r>
            <a:r>
              <a:rPr sz="1100">
                <a:solidFill>
                  <a:srgbClr val="141414"/>
                </a:solidFill>
              </a:rPr>
              <a:t>Addressed via multi-tier NLP combining Gestalt Levenshtein fuzzy matching and domain alias dictionaries.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Gap 3: Factual Hallucinations in Pure LLM RAG: </a:t>
            </a:r>
            <a:r>
              <a:rPr sz="1100">
                <a:solidFill>
                  <a:srgbClr val="141414"/>
                </a:solidFill>
              </a:rPr>
              <a:t>Addressed by anchoring all answers in verified Knowledge Graph ontological triples with 100% mathematical verifiability.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Gap 4: Fragmented Campus Communication: </a:t>
            </a:r>
            <a:r>
              <a:rPr sz="1100">
                <a:solidFill>
                  <a:srgbClr val="141414"/>
                </a:solidFill>
              </a:rPr>
              <a:t>Addressed by replacing scattered WhatsApp groups and Google Classroom streams with our unified Student Hub (`/student`).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TEAM ROLES &amp; RESPONSIBILITIES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12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D0D47"/>
                </a:solidFill>
              </a:rPr>
              <a:t>■  R. Jaya Vinuthna Kumar (23N81A05A9):
   </a:t>
            </a:r>
            <a:r>
              <a:rPr sz="1100">
                <a:solidFill>
                  <a:srgbClr val="141414"/>
                </a:solidFill>
              </a:rPr>
              <a:t>Knowledge Graph Architecture, Ontology Design, NetworkX Multigraph modeling, and ER schema generator.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D0D47"/>
                </a:solidFill>
              </a:rPr>
              <a:t>■  C. Rithvik (23N81A05B2):
   </a:t>
            </a:r>
            <a:r>
              <a:rPr sz="1100">
                <a:solidFill>
                  <a:srgbClr val="141414"/>
                </a:solidFill>
              </a:rPr>
              <a:t>NLP Pipeline, TF-IDF Intent Classification, Levenshtein Fuzzy Matching, and Multi-Turn Dialogue Context.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D0D47"/>
                </a:solidFill>
              </a:rPr>
              <a:t>■  K. Roshini Sree (23N81A05B8):
   </a:t>
            </a:r>
            <a:r>
              <a:rPr sz="1100">
                <a:solidFill>
                  <a:srgbClr val="141414"/>
                </a:solidFill>
              </a:rPr>
              <a:t>Student Study Hub Portal (`/student`), StudyMaterial Repository, Circulars Feed, and PWA Mobile Integration.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D0D47"/>
                </a:solidFill>
              </a:rPr>
              <a:t>■  M. Swapna (23N81A05E1):
   </a:t>
            </a:r>
            <a:r>
              <a:rPr sz="1100">
                <a:solidFill>
                  <a:srgbClr val="141414"/>
                </a:solidFill>
              </a:rPr>
              <a:t>Flask Web Application, Route Handlers, Role-Based Access Control (RBAC), and SQLite Persistence.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D0D47"/>
                </a:solidFill>
              </a:rPr>
              <a:t>■  J. Abhirama Rao (23N81A05F8):
   </a:t>
            </a:r>
            <a:r>
              <a:rPr sz="1100">
                <a:solidFill>
                  <a:srgbClr val="141414"/>
                </a:solidFill>
              </a:rPr>
              <a:t>Testing Suites (`test_er_kg.py`, `test_api_integration.py`), Performance Benchmarking Engine, and Documentation.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STRATEGIC FUTURE ROADMAP (PHASE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13 of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1. Neo4j Graph Database Migration: </a:t>
            </a:r>
            <a:r>
              <a:rPr sz="1100">
                <a:solidFill>
                  <a:srgbClr val="141414"/>
                </a:solidFill>
              </a:rPr>
              <a:t>Transition from in-memory NetworkX to external persistent Cypher-compatible graph database (Neo4j) for million-node scale.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2. Hybrid Graph-RAG with Local Quantized LLM: </a:t>
            </a:r>
            <a:r>
              <a:rPr sz="1100">
                <a:solidFill>
                  <a:srgbClr val="141414"/>
                </a:solidFill>
              </a:rPr>
              <a:t>Inject retrieved Knowledge Graph subgraphs into local lightweight models (e.g. Llama-3-8B via Ollama) for fluent natural phrasing while preserving 100% graph factuality.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3. Real-Time Dynamic Timetables &amp; IoT: </a:t>
            </a:r>
            <a:r>
              <a:rPr sz="1100">
                <a:solidFill>
                  <a:srgbClr val="141414"/>
                </a:solidFill>
              </a:rPr>
              <a:t>Connect Room and Faculty nodes to live schedule databases and smart campus occupancy sensors for real-time room availability checks.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581AA"/>
                </a:solidFill>
              </a:rPr>
              <a:t>■  4. Automated Student Degree Audit: </a:t>
            </a:r>
            <a:r>
              <a:rPr sz="1100">
                <a:solidFill>
                  <a:srgbClr val="141414"/>
                </a:solidFill>
              </a:rPr>
              <a:t>Enable authenticated students to track course prerequisites, completed credits, and degree progress directly on the curriculum graph.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20408"/>
                </a:solidFill>
                <a:latin typeface="Times New Roman"/>
              </a:defRPr>
            </a:pPr>
            <a:r>
              <a:t>CONCLUSION &amp; Q&amp;A</a:t>
            </a:r>
          </a:p>
          <a:p>
            <a:br/>
            <a:pPr algn="ctr">
              <a:defRPr sz="1400">
                <a:solidFill>
                  <a:srgbClr val="141414"/>
                </a:solidFill>
                <a:latin typeface="Times New Roman"/>
              </a:defRPr>
            </a:pPr>
            <a:r>
              <a:t>Thank you to our guide Mrs. Syeda Neha Shireen and the Department Review Committee.</a:t>
            </a:r>
            <a:br/>
            <a:r>
              <a:t>We are happy to answer any questions and demonstrate the live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