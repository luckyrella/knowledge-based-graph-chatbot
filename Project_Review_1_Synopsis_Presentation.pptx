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96" y="320040"/>
            <a:ext cx="4636008" cy="1307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9164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D0D47"/>
                </a:solidFill>
                <a:latin typeface="Times New Roman"/>
              </a:defRPr>
            </a:pPr>
            <a:r>
              <a:t>Department of Computer Science and Engineering</a:t>
            </a:r>
          </a:p>
          <a:p>
            <a:pPr algn="ctr">
              <a:spcAft>
                <a:spcPts val="200"/>
              </a:spcAft>
              <a:defRPr sz="1400" b="1">
                <a:solidFill>
                  <a:srgbClr val="0070C0"/>
                </a:solidFill>
                <a:latin typeface="Times New Roman"/>
              </a:defRPr>
            </a:pPr>
            <a:r>
              <a:t>Project Review 1</a:t>
            </a:r>
          </a:p>
          <a:p>
            <a:pPr algn="ctr">
              <a:defRPr sz="1400" b="1">
                <a:solidFill>
                  <a:srgbClr val="0070C0"/>
                </a:solidFill>
                <a:latin typeface="Times New Roman"/>
              </a:defRPr>
            </a:pPr>
            <a:r>
              <a:t>Project Synopsis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420408"/>
                </a:solidFill>
                <a:latin typeface="Times New Roman"/>
              </a:defRPr>
            </a:pPr>
            <a:r>
              <a:t>KNOWLEDGE GRAPH-BASED QUESTION ANSWERING SYSTEM FOR</a:t>
            </a:r>
          </a:p>
          <a:p>
            <a:pPr algn="ctr">
              <a:defRPr sz="1600" b="1">
                <a:solidFill>
                  <a:srgbClr val="420408"/>
                </a:solidFill>
                <a:latin typeface="Times New Roman"/>
              </a:defRPr>
            </a:pPr>
            <a:r>
              <a:t>EFFICIENT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8046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03217"/>
                </a:solidFill>
                <a:latin typeface="Times New Roman"/>
              </a:defRPr>
            </a:pPr>
            <a:r>
              <a:t>Under the Supervision</a:t>
            </a:r>
          </a:p>
          <a:p>
            <a:pPr algn="ctr">
              <a:defRPr sz="1400" b="1">
                <a:solidFill>
                  <a:srgbClr val="003217"/>
                </a:solidFill>
                <a:latin typeface="Times New Roman"/>
              </a:defRPr>
            </a:pPr>
            <a:r>
              <a:t>Mrs. Syeda Neha Shireen</a:t>
            </a:r>
          </a:p>
          <a:p>
            <a:pPr algn="ctr">
              <a:defRPr sz="1200" b="0">
                <a:solidFill>
                  <a:srgbClr val="003217"/>
                </a:solidFill>
                <a:latin typeface="Times New Roman"/>
              </a:defRPr>
            </a:pPr>
            <a:r>
              <a:t>Assistant Professor of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23036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R. Jaya Vinuthna Kumar       (23N81A05A9)</a:t>
            </a:r>
          </a:p>
          <a:p>
            <a:pPr algn="ctr"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C. Rithvik                   (23N81A05B2)</a:t>
            </a:r>
          </a:p>
          <a:p>
            <a:pPr algn="ctr"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K. Roshini Sree              (23N81A05B8)</a:t>
            </a:r>
          </a:p>
          <a:p>
            <a:pPr algn="ctr"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M. Swapna                    (23N81A05E1)</a:t>
            </a:r>
          </a:p>
          <a:p>
            <a:pPr algn="ctr"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J. Abhirama Rao              (23N81A05F8)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2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73152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Introduction / Research background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Research objectives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Existing System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Literature Review Summary Statement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Research gap identified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Proposed System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Roles &amp; Responsibilities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Requirements</a:t>
            </a:r>
          </a:p>
          <a:p>
            <a:pPr>
              <a:spcAft>
                <a:spcPts val="1200"/>
              </a:spcAft>
              <a:defRPr sz="1200" b="1">
                <a:solidFill>
                  <a:srgbClr val="141414"/>
                </a:solidFill>
                <a:latin typeface="Times New Roman"/>
              </a:defRPr>
            </a:pPr>
            <a:r>
              <a:t>❑   Project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3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8638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Campus Data Modeling: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Formal representation of institutional departments, courses, faculty profiles, facilities, and academic operations into an interconnected Knowledge Graph.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Question Understanding: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NLP-driven intent classification and entity recognition using TF-IDF vectorization and fuzzy matching to interpret varied conversational student queries.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Knowledge Graph Traversal: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Direct graph path traversal to retrieve verifiable factual answers deterministically, completely eliminating generative AI hallucinations.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Multi-Hop Reasoning: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Accurate resolution of complex relational questions linking academic programs, faculty specializations, course prerequisites, and administrative policies.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Automation &amp; Visualization: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Dynamic graph synchronization upon administrative updates and interactive visual exploration using D3.js force-directed graph representations.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Times New Roman"/>
              </a:defRPr>
            </a:pPr>
            <a: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4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011680" cy="1097280"/>
          </a:xfrm>
          <a:prstGeom prst="roundRect">
            <a:avLst/>
          </a:prstGeom>
          <a:solidFill>
            <a:srgbClr val="F8C7AC"/>
          </a:solidFill>
          <a:ln w="19050">
            <a:solidFill>
              <a:srgbClr val="EB7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Objective-1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43000"/>
            <a:ext cx="5852160" cy="1097280"/>
          </a:xfrm>
          <a:prstGeom prst="roundRect">
            <a:avLst/>
          </a:prstGeom>
          <a:solidFill>
            <a:srgbClr val="A9D18E"/>
          </a:solidFill>
          <a:ln w="19050">
            <a:solidFill>
              <a:srgbClr val="82B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Develop a formal entity-relationship Knowledge Graph modeling academic departments, courses, faculty profiles, and campus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2011680" cy="1097280"/>
          </a:xfrm>
          <a:prstGeom prst="roundRect">
            <a:avLst/>
          </a:prstGeom>
          <a:solidFill>
            <a:srgbClr val="B4C5E7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Objective-2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423160"/>
            <a:ext cx="5852160" cy="1097280"/>
          </a:xfrm>
          <a:prstGeom prst="roundRect">
            <a:avLst/>
          </a:prstGeom>
          <a:solidFill>
            <a:srgbClr val="FFE699"/>
          </a:solidFill>
          <a:ln w="19050">
            <a:solidFill>
              <a:srgbClr val="DC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Implement NLP-based intent recognition, entity extraction, and fuzzy matching to process diverse conversational student and faculty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2011680" cy="1097280"/>
          </a:xfrm>
          <a:prstGeom prst="roundRect">
            <a:avLst/>
          </a:prstGeom>
          <a:solidFill>
            <a:srgbClr val="FFD966"/>
          </a:solidFill>
          <a:ln w="19050">
            <a:solidFill>
              <a:srgbClr val="D6A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Objective-3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703320"/>
            <a:ext cx="5852160" cy="1097280"/>
          </a:xfrm>
          <a:prstGeom prst="roundRect">
            <a:avLst/>
          </a:prstGeom>
          <a:solidFill>
            <a:srgbClr val="B4C5E7"/>
          </a:solidFill>
          <a:ln w="19050">
            <a:solidFill>
              <a:srgbClr val="78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Execute graph traversal and multi-hop querying to provide accurate, context-aware factual answers, completely eliminating LLM hallucinations.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79"/>
            <a:ext cx="2011680" cy="1097280"/>
          </a:xfrm>
          <a:prstGeom prst="roundRect">
            <a:avLst/>
          </a:prstGeom>
          <a:solidFill>
            <a:srgbClr val="92D05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Objective-4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983479"/>
            <a:ext cx="5852160" cy="1097280"/>
          </a:xfrm>
          <a:prstGeom prst="roundRect">
            <a:avLst/>
          </a:prstGeom>
          <a:solidFill>
            <a:srgbClr val="F8C7AC"/>
          </a:solidFill>
          <a:ln w="19050">
            <a:solidFill>
              <a:srgbClr val="DCA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Enable dynamic automated graph synchronization on admin updates and provide an interactive graph visualization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5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8638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Existing System: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Traditional university web portals, static PDF notices, manual circulars, and keyword search bars.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Technologies/Methods: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Relational DBMS, SQL keyword queries, manual keyword indexing, static HTML tables, and standard search bars.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Limitations: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Incapable of understanding semantic relationships, rigid query schemas, brittle to synonyms or spelling errors, and no contextual awareness.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Problems/Challenges: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Low query recall, high user friction navigating fragmented campus notices, delayed information retrieval, and high maintenance overhead.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Research Gap: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Need for Knowledge Graph semantic modeling with natural language question answering, zero-hallucination multi-hop traversal, and automated real-time graph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LITERATURE REVIEW SUMMARY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68680"/>
          <a:ext cx="82295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74519"/>
                <a:gridCol w="1325880"/>
                <a:gridCol w="1600200"/>
                <a:gridCol w="1417320"/>
                <a:gridCol w="1463040"/>
              </a:tblGrid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Title of the</a:t>
                      </a:r>
                      <a:br/>
                      <a:r>
                        <a:t>paper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Year &amp;</a:t>
                      </a:r>
                      <a:br/>
                      <a:r>
                        <a:t>Journal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Methodology</a:t>
                      </a:r>
                      <a:br/>
                      <a:r>
                        <a:t>adopted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Results</a:t>
                      </a:r>
                      <a:br/>
                      <a:r>
                        <a:t>obtained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Key gaps</a:t>
                      </a:r>
                      <a:br/>
                      <a:r>
                        <a:t>identified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Challenges, Techniques, and Trends of Simple KGQA: A Survey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2021 – Information</a:t>
                      </a:r>
                      <a:br/>
                      <a:r>
                        <a:t>(MDPI, Vol. 12)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Systematic survey of entity/relation linking and KG embeddings.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Benchmarked semantic parsing vs DL models on open QA datasets.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Limited to single-hop QA; lacks real-time updates &amp; dialogue memory.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Knowledge Graph Prompting for Multi-Document QA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2024 – AAAI-24</a:t>
                      </a:r>
                      <a:br/>
                      <a:r>
                        <a:t>(Vol. 38, No. 17)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Knowledge Graph Prompting (KGP) over passages + LLM agent traversal.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SOTA multi-doc QA precision; significant retrieval latency reduction.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High compute overhead; assumes static graphs; no live write-back.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Advancements in Complex KGQA: A Survey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Electronics</a:t>
                      </a:r>
                      <a:br/>
                      <a:r>
                        <a:t>(MDPI, Vol. 12)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Graph metrics (GM), GNNs, and hybrid LLM subgraph extraction.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Classified multi-hop reasoning algorithms and evaluation benchmarks.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High compute cost in subgraph matching; lacks visual graph UI.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KG-Augmented Language Models for Complex QA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ACL NLRSE</a:t>
                      </a:r>
                      <a:br/>
                      <a:r>
                        <a:t>Workshop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Linearized relevant KG subgraphs injected into prompt contexts.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Substantially mitigated hallucination; high multi-hop query accuracy.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Relies on pre-built static KGs; no live synchronization mechanism.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QA System Based on University Knowledge Graph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CCIS</a:t>
                      </a:r>
                      <a:br/>
                      <a:r>
                        <a:t>(Springer, Vol. 1827)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University ontology design, template rule matching, and Cypher queries.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Accurate retrieval of campus departments, courses, and faculty.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Rigid rule templates limit natural phrasing; no visual exploration.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LITERATURE REVIEW SUMMARY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68680"/>
          <a:ext cx="82295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74519"/>
                <a:gridCol w="1325880"/>
                <a:gridCol w="1600200"/>
                <a:gridCol w="1417320"/>
                <a:gridCol w="1463040"/>
              </a:tblGrid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Title of the</a:t>
                      </a:r>
                      <a:br/>
                      <a:r>
                        <a:t>paper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Year &amp;</a:t>
                      </a:r>
                      <a:br/>
                      <a:r>
                        <a:t>Journal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Methodology</a:t>
                      </a:r>
                      <a:br/>
                      <a:r>
                        <a:t>adopted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Results</a:t>
                      </a:r>
                      <a:br/>
                      <a:r>
                        <a:t>obtained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Key gaps</a:t>
                      </a:r>
                      <a:br/>
                      <a:r>
                        <a:t>identified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Interpretable QA with Knowledge Graphs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2025 – arXiv</a:t>
                      </a:r>
                      <a:br/>
                      <a:r>
                        <a:t>(2510.19181)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Pure deterministic path traversal over explicit domain knowledge graphs.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100% explainable answer paths with ultra-low retrieval latency.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Weak against colloquial query phrasing; static graph structure.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7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Optimizing QA Systems in Education: Domain Challenges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2024 – IEEE Access</a:t>
                      </a:r>
                      <a:br/>
                      <a:r>
                        <a:t>(Vol. 12)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Deep learning domain prediction (Bi-GRU, Bi-LSTM) &amp; ensemble models.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Achieved 87.14% domain classification accuracy on student queries.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Limited to query classification; lacks automated graph synchronization.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8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UniKGQA: Unified Retrieval &amp; Reasoning for KGQA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ICLR 2023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Unified semantic matching and information propagation over KGs.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Outperformed decoupled pipelines on WebQSP and CWQ benchmarks.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Heavy GPU pre-training required; difficult for lightweight campus setups.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9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Think-on-Graph: Deep &amp; Responsible Reasoning on KGs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2024 – ICLR 2024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Agentic beam search over KGs with LLMs as dynamic navigators.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Faithful reasoning chains with state-of-the-art multi-hop accuracy.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High token cost and latency; lacks dynamic schema modification.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Unifying Large Language Models and KGs: A Roadmap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2024 – IEEE TKDE</a:t>
                      </a:r>
                      <a:br/>
                      <a:r>
                        <a:t>(Vol. 36, No. 7)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Systematic categorization of KG-augmented and synergistic models.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Proved dual-engine synergy maximizes factuality and fluent language.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Identifies open challenge in real-time bidirectional synchronization.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LITERATURE REVIEW SUMMARY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68680"/>
          <a:ext cx="82295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74519"/>
                <a:gridCol w="1325880"/>
                <a:gridCol w="1600200"/>
                <a:gridCol w="1417320"/>
                <a:gridCol w="1463040"/>
              </a:tblGrid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Title of the</a:t>
                      </a:r>
                      <a:br/>
                      <a:r>
                        <a:t>paper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Year &amp;</a:t>
                      </a:r>
                      <a:br/>
                      <a:r>
                        <a:t>Journal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Methodology</a:t>
                      </a:r>
                      <a:br/>
                      <a:r>
                        <a:t>adopted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Results</a:t>
                      </a:r>
                      <a:br/>
                      <a:r>
                        <a:t>obtained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Key gaps</a:t>
                      </a:r>
                      <a:br/>
                      <a:r>
                        <a:t>identified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11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Knowledge Graph Question Answering: A Survey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IEEE TKDE</a:t>
                      </a:r>
                      <a:br/>
                      <a:r>
                        <a:t>(Vol. 35, No. 11)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Comprehensive review of semantic parsing, IR, and embedding on KGs.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Systematic benchmark of precision, recall, and computational latency.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Identified severe gaps in real-time graph updates and explainability.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12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KG Based Intelligent Chatbot for Higher Education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Educ. Inf.</a:t>
                      </a:r>
                      <a:br/>
                      <a:r>
                        <a:t>Technol. (Springer)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Campus ontology modeling, intent classification, and Neo4j traversal.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91.2% user satisfaction; 88.5% precision on student inquiries.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High maintenance overhead; lacks live administrative CRUD updates.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13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Design &amp; Implementation of Campus Q&amp;A Using KG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2022 – IEEE CSEI</a:t>
                      </a:r>
                      <a:br/>
                      <a:r>
                        <a:t>2022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BiLSTM-CRF entity recognition, dependency parsing, Cypher queries.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Handled campus faculty, room, and course queries with 86.4% F1.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Lacks multi-turn conversation memory; fails on dynamic data edits.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14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KG-Chat: Conversational Agent for Academic Advising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2022 – IEEE Access</a:t>
                      </a:r>
                      <a:br/>
                      <a:r>
                        <a:t>(Vol. 10)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Curriculum knowledge graph combined with slot-filling dialogue.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Zero prerequisite advising errors; reduced advisor wait times.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Restricted to course advising; lacks interactive visual topology.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15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Decoupling Retrieval &amp; Generation for Domain QA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2024 – Expert Syst.</a:t>
                      </a:r>
                      <a:br/>
                      <a:r>
                        <a:t>Appl. (Vol. 241)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Decoupled framework separating graph verification from generation.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Achieved 94.2% factual consistency on localized institutional KBs.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Does not support incremental live node insertion without re-indexing.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LITERATURE REVIEW SUMMARY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68680"/>
          <a:ext cx="82295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74519"/>
                <a:gridCol w="1325880"/>
                <a:gridCol w="1600200"/>
                <a:gridCol w="1417320"/>
                <a:gridCol w="1463040"/>
              </a:tblGrid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Title of the</a:t>
                      </a:r>
                      <a:br/>
                      <a:r>
                        <a:t>paper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Year &amp;</a:t>
                      </a:r>
                      <a:br/>
                      <a:r>
                        <a:t>Journal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Methodology</a:t>
                      </a:r>
                      <a:br/>
                      <a:r>
                        <a:t>adopted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Results</a:t>
                      </a:r>
                      <a:br/>
                      <a:r>
                        <a:t>obtained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Key gaps</a:t>
                      </a:r>
                      <a:br/>
                      <a:r>
                        <a:t>identified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16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Towards Verifiable &amp; Dynamic KGQA via Incremental Retrieval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ACM CIKM</a:t>
                      </a:r>
                      <a:br/>
                      <a:r>
                        <a:t>2023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Dynamic graph maintenance via delta-indexing and subgraph caches.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3.8x faster index updates compared to full-graph rebuilding.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Lacks fuzzy matching for student typos; no visual exploration UI.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17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Multi-Hop QA Over Knowledge Graphs With Path Reasoning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Knowl.-Based</a:t>
                      </a:r>
                      <a:br/>
                      <a:r>
                        <a:t>Syst. (Vol. 268)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Reinforcement learning agent for multi-hop path selection over KGs.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Improved Hits@1 by 6.4% on multi-hop benchmarks; explainable paths.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High training cost; brittle against out-of-vocabulary student terms.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18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Graph-RAG: Structured Knowledge in Higher Education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2024 – J. Educ.</a:t>
                      </a:r>
                      <a:br/>
                      <a:r>
                        <a:t>Technol. (Vol. 45)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Hybrid RAG combining vector embeddings with explicit relational graph edges.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Outperformed pure vector RAG by 22% in multi-entity reasoning.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Lacks centralized admin UI for staff to update campus entities.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19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Automated Campus KG Construction &amp; Visualization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2023 – IJIMAI</a:t>
                      </a:r>
                      <a:br/>
                      <a:r>
                        <a:t>(Vol. 8, No. 2)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Information extraction from campus docs with interactive D3 rendering.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Enabled intuitive visual exploration of campus department linkages.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Lacks conversational question answering; only an exploratory tool.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576" rIns="36576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Intent-Aware Knowledge Graph Traversal for Campus Helpdesk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2024 – Appl. Intell.</a:t>
                      </a:r>
                      <a:br/>
                      <a:r>
                        <a:t>(Vol. 54, No. 6)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Hybrid TF-IDF &amp; BERT intent routing combined with graph traversal.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Cut student ticket resolution from 4.2h to 1.8s with 92.6% precision.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Lacks live administrative write-back to graph; no visual navigation.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CHALLENGES AND GAPS IN CURRENT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81381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03120"/>
                <a:gridCol w="2743200"/>
                <a:gridCol w="2743200"/>
              </a:tblGrid>
              <a:tr h="876300">
                <a:tc>
                  <a:txBody>
                    <a:bodyPr wrap="square" lIns="73152" rIns="73152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S.No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Research Gap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73152" rIns="73152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Real-Time Query Understanding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Natural language questions contain varied colloquial phrasing, typos, and abbreviations.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Need for robust NLP intent classification paired with fuzzy string entity extraction.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73152" rIns="73152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Multi-Hop Relational Retrieval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Complex academic questions link multiple entities across departments, faculty, and courses.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Need for automated multi-hop graph path traversal rather than single keyword lookups.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73152" rIns="73152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Zero-Hallucination Factuality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Generative LLMs frequently hallucinate incorrect campus contacts, policies, or fee structures.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Need for deterministic Knowledge Graph traversal providing 100% verifiable factual answers.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73152" rIns="73152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Dynamic Data Maintenance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Campus data updates frequently with faculty changes, new circulars, and course schedules.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Need for an integrated administrative portal enabling real-time automated graph updates.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73152" rIns="73152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Intuitive User Exploration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Non-technical students and visitors find raw tables and complex navigation difficult to use.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Need for an interactive visual graph explorer coupled with a responsive conversational chat UI.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11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78638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Continuous Data Ingestion &amp; Graph Construction: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Continuously model campus departments, faculty, curriculum, facilities, and rules into an interconnected NetworkX knowledge graph.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NLP Intent Classification &amp; Entity Matching: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Parse incoming user queries using TF-IDF vectorization, cosine similarity, and fuzzy string matching for robust typo resilience.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Deterministic Graph Traversal &amp; Fact Extraction: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Execute multi-hop graph path queries to retrieve verified, factual institutional data with zero generative hallucinations.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Real-Time Administrative Graph Synchronization: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Enable authorized administrators to perform CRUD operations on knowledge nodes with instant live graph synchronization.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41414"/>
                </a:solidFill>
                <a:latin typeface="Times New Roman"/>
              </a:rPr>
              <a:t>▯   Interactive Graph Visualization &amp; Conversational UI: </a:t>
            </a:r>
            <a:r>
              <a:rPr sz="1200" b="0">
                <a:solidFill>
                  <a:srgbClr val="141414"/>
                </a:solidFill>
                <a:latin typeface="Times New Roman"/>
              </a:rPr>
              <a:t>Deliver an intuitive chat interface with multi-turn context memory alongside interactive D3.js force-directed graph exploration.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12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"/>
            <a:ext cx="64008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ROLES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13 of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78638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</a:tblGrid>
              <a:tr h="838200">
                <a:tc>
                  <a:txBody>
                    <a:bodyPr lIns="137160" anchor="ctr"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R. Jaya Vinuthna Kumar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System design, architecture, database, development and implementation.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7160" anchor="ctr"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C. Rithvik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Testing, validation, documentation.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7160" anchor="ctr"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K. Roshini Sree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Coordination, Planning, Communication, Database, Development and Implementation.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7160" anchor="ctr"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M. Swapna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Literature review, requirement analysis, planning, communication.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7160" anchor="ctr"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J. Abhirama Rao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Requirement gathering, literature Review, documentation.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7160" anchor="ctr"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Mrs. Syeda Neha Shireen (Guide)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7160" anchor="ctr"/>
                    <a:lstStyle/>
                    <a:p>
                      <a:pPr>
                        <a:defRPr sz="120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Technical guidance, review, monitoring.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14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840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Hardware Requirements:</a:t>
            </a:r>
          </a:p>
          <a:p>
            <a:pPr>
              <a:spcAft>
                <a:spcPts val="10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Processor: Intel Core i5 or equivalent</a:t>
            </a:r>
          </a:p>
          <a:p>
            <a:pPr>
              <a:spcAft>
                <a:spcPts val="10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RAM: Minimum 8 GB</a:t>
            </a:r>
          </a:p>
          <a:p>
            <a:pPr>
              <a:spcAft>
                <a:spcPts val="10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Storage: Minimum 10 GB free space</a:t>
            </a:r>
          </a:p>
          <a:p>
            <a:pPr>
              <a:spcAft>
                <a:spcPts val="10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Internet/Network: Stable internet connection</a:t>
            </a:r>
          </a:p>
          <a:p>
            <a:pPr>
              <a:spcAft>
                <a:spcPts val="10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Other Hardware: Standard laptop /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39319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Software Requirements: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Operating System: Windows 10/11 / Linux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Programming Language: Python 3.10+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Frameworks/Libraries: Flask, NetworkX, Scikit-learn, NLTK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AI Technologies: Knowledge Graph QA, TF-IDF NLP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Database: JSON / SQLite / Triplestore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IDE: Visual Studio Code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Cloud/Platform: Render / Docker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Testing Tools: Postman / Browser DevTools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15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9319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Functional Requirements: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Ingest and model campus entities into Knowledge Graph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Parse natural language queries using NLP intent parsing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Extract entities with typo-tolerant fuzzy matching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Traverse graph relationships to retrieve factual answers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Support multi-hop queries across departments and faculty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Enable automated graph updates on admin data modifications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Render interactive D3.js visual graph subgraphs</a:t>
            </a:r>
          </a:p>
          <a:p>
            <a:pPr>
              <a:spcAft>
                <a:spcPts val="6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Provide conversational chat interface with session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840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41414"/>
                </a:solidFill>
                <a:latin typeface="Times New Roman"/>
              </a:defRPr>
            </a:pPr>
            <a:r>
              <a:t>Non-Functional Requirements: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Performance: Fast query response time (&lt; 500 ms)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Factuality: 100% verified graph retrieval (zero hallucination)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Reliability: Robust fallback search and error handling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Scalability: Extensible ontology supporting 100,000+ triples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Usability: Intuitive and clean web interface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Maintainability: Modular decoupled architecture (NLP, KG, UI)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TIMELINE / PROJECT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16 of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81381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937760"/>
                <a:gridCol w="1737360"/>
              </a:tblGrid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Activities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Month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SEM-I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1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Problem identification &amp; topic finalization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AUG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2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Literature survey &amp; existing-system study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AUG &amp; SEP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3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Requirement analysis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SEP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Review paper write up and submit to journals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(Oct)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4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System design &amp; architecture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Sep &amp; Oct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5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Implementation / Development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Sep &amp; Oct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6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Testing &amp; debugging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Sep &amp; Oct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7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Results &amp; performance evaluation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Oct &amp; Nov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Full paper write up and submit to journals/ IEEE conferences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(Dec-26)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SEM-II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4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8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Deploy the project in cloud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Jan, Feb-27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9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Documentation &amp; final report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Feb, Mar-27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Phase 10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Attending conferences / paper publish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0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(1st Week of Mar)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620"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Final review &amp; presentation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ctr">
                        <a:defRPr sz="1200" b="1">
                          <a:solidFill>
                            <a:srgbClr val="141414"/>
                          </a:solidFill>
                          <a:latin typeface="Times New Roman"/>
                        </a:defRPr>
                      </a:pPr>
                      <a:r>
                        <a:t>1st Week of April-27</a:t>
                      </a:r>
                    </a:p>
                  </a:txBody>
                  <a:tcPr>
                    <a:lnL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17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7955279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1. M. Yani and A. A. Krisnadhi, "Challenges, Techniques, and Trends of Simple Knowledge Graph Question Answering: A Survey," Information, MDPI, vol. 12, no. 7, p. 271, 2021.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2. Y. Wang et al., "Knowledge Graph Prompting for Multi-Document Question Answering," in Proc. AAAI Conf. Artif. Intell. (AAAI-24), vol. 38, no. 17, pp. 19210-19218, 2024.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3. F. A. Al-Aswadi et al., "Advancements in Complex Knowledge Graph Question Answering: A Survey," Electronics, MDPI, vol. 12, no. 21, p. 4452,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4. L. Ding et al., "Knowledge Graph-Augmented Language Models for Complex Question Answering," in Proc. ACL NLRSE Workshop, pp. 45-56,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5. Z. Chen and Y. Li, "Design and Implementation of Question Answering System Based on University Knowledge Graph," in CCIS, Springer, vol. 1827, pp. 112-124,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6. P. Trivedi et al., "Interpretable Question Answering with Knowledge Graphs via Deterministic Path Traversal," arXiv:2510.19181, 2025.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7. M. A. Rahman et al., "Optimizing Question Answering Systems in Education: Addressing Domain-Specific Challenges," IEEE Access, vol. 12, pp. 34120-34135, 2024.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8. X. Jiang et al., "UniKGQA: Unified Retrieval and Reasoning for Multi-hop Knowledge Graph Question Answering," in Proc. ICLR,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9. J. Sun et al., "Think-on-Graph: Deep and Responsible Reasoning of Large Language Models on Knowledge Graphs," in Proc. ICLR, 2024.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10. S. Pan et al., "Unifying Large Language Models and Knowledge Graphs: A Roadmap," IEEE Trans. Knowl. Data Eng. (TKDE), vol. 36, no. 7, pp. 3580-3599, 2024.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581AA"/>
                </a:solidFill>
                <a:latin typeface="Times New Roman"/>
              </a:defRPr>
            </a:pPr>
            <a:r>
              <a:t>REFERENCES (Contd.)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18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7955279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11. X. Huang et al., "Knowledge Graph Question Answering: A Survey," IEEE Trans. Knowl. Data Eng. (TKDE), vol. 35, no. 11, pp. 11245-11263,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12. D. Kumar and P. Sharma, "Knowledge Graph Based Intelligent Academic Chatbot for Higher Education Institutions," Educ. Inf. Technol., Springer, vol. 28, pp. 14205-14228,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13. J. Zhang and H. Wang, "Design and Implementation of Campus Q&amp;A System Based on Knowledge Graph," in Proc. IEEE CSEI, pp. 245-250, 2022.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14. A. Saxena and R. Gupta, "KG-Chat: A Conversational Agent for Academic Advising via Knowledge Graphs," IEEE Access, vol. 10, pp. 98210-98222, 2022.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15. R. Patel and M. Singh, "Decoupling Retrieval and Generation for Domain-Specific Question Answering," Expert Syst. Appl., vol. 241, p. 122650, 2024.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16. T. Liu et al., "Towards Verifiable and Dynamic KGQA via Incremental Retrieval," in Proc. ACM CIKM, pp. 1540-1549,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17. W. Zhou et al., "Multi-Hop Question Answering Over Knowledge Graphs With Path Reasoning," Knowl.-Based Syst., vol. 268, p. 110480,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18. B. Edge et al., "Graph-RAG: Enhancing Retrieval-Augmented Generation with Structured Knowledge in Higher Education," J. Educ. Technol., vol. 45, no. 2, pp. 210-225, 2024.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19. H. Wu and L. Zhao, "Automated Knowledge Graph Construction and Interactive Visualization for Campus Domains," IJIMAI, vol. 8, no. 2, pp. 88-97, 2023.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  <a:latin typeface="Times New Roman"/>
              </a:defRPr>
            </a:pPr>
            <a:r>
              <a:t>20. K. Sengupta and N. Rao, "Intent-Aware Knowledge Graph Traversal for Automated Campus Helpdesk," Appl. Intell., vol. 54, no. 6, pp. 5812-5827, 2024.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6355080"/>
            <a:ext cx="1645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Times New Roman"/>
              </a:defRPr>
            </a:pPr>
            <a:r>
              <a:t>(#) of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23232"/>
                </a:solidFill>
                <a:latin typeface="Times New Roman"/>
              </a:defRPr>
            </a:pPr>
            <a:r>
              <a:t>THANK YOU..!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